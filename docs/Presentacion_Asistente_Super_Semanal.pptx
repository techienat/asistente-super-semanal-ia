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54DD44-4C3A-46B1-976E-DC85DC166963}" v="2" dt="2026-09-29T08:30:45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015" autoAdjust="0"/>
  </p:normalViewPr>
  <p:slideViewPr>
    <p:cSldViewPr snapToGrid="0" snapToObjects="1">
      <p:cViewPr varScale="1">
        <p:scale>
          <a:sx n="73" d="100"/>
          <a:sy n="73" d="100"/>
        </p:scale>
        <p:origin x="6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a Jimenez Altamirano" userId="3bc29bd2-2e9b-4200-8d4e-9dc5c3c98844" providerId="ADAL" clId="{40960943-14D1-4691-B339-495BEFD29211}"/>
    <pc:docChg chg="modSld">
      <pc:chgData name="Natalia Jimenez Altamirano" userId="3bc29bd2-2e9b-4200-8d4e-9dc5c3c98844" providerId="ADAL" clId="{40960943-14D1-4691-B339-495BEFD29211}" dt="2026-09-29T08:30:45.898" v="1" actId="1076"/>
      <pc:docMkLst>
        <pc:docMk/>
      </pc:docMkLst>
      <pc:sldChg chg="modSp mod">
        <pc:chgData name="Natalia Jimenez Altamirano" userId="3bc29bd2-2e9b-4200-8d4e-9dc5c3c98844" providerId="ADAL" clId="{40960943-14D1-4691-B339-495BEFD29211}" dt="2026-09-29T08:30:45.898" v="1" actId="1076"/>
        <pc:sldMkLst>
          <pc:docMk/>
          <pc:sldMk cId="0" sldId="256"/>
        </pc:sldMkLst>
        <pc:spChg chg="mod">
          <ac:chgData name="Natalia Jimenez Altamirano" userId="3bc29bd2-2e9b-4200-8d4e-9dc5c3c98844" providerId="ADAL" clId="{40960943-14D1-4691-B339-495BEFD29211}" dt="2026-09-29T08:30:33.779" v="0" actId="6549"/>
          <ac:spMkLst>
            <pc:docMk/>
            <pc:sldMk cId="0" sldId="256"/>
            <ac:spMk id="15" creationId="{00000000-0000-0000-0000-000000000000}"/>
          </ac:spMkLst>
        </pc:spChg>
        <pc:picChg chg="mod">
          <ac:chgData name="Natalia Jimenez Altamirano" userId="3bc29bd2-2e9b-4200-8d4e-9dc5c3c98844" providerId="ADAL" clId="{40960943-14D1-4691-B339-495BEFD29211}" dt="2026-09-29T08:30:45.898" v="1" actId="1076"/>
          <ac:picMkLst>
            <pc:docMk/>
            <pc:sldMk cId="0" sldId="256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7267"/>
                </a:solidFill>
              </a:rPr>
              <a:t>PROYECTO FINAL  |  INTELIGENCIA ARTIFICIAL APLICADA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37267"/>
                </a:solidFill>
              </a:rPr>
              <a:t>Imelda Natalia Jiménez Altamirano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89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89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jupyter.org/" TargetMode="External"/><Relationship Id="rId3" Type="http://schemas.openxmlformats.org/officeDocument/2006/relationships/hyperlink" Target="https://copilot.microsoft.com/" TargetMode="External"/><Relationship Id="rId7" Type="http://schemas.openxmlformats.org/officeDocument/2006/relationships/hyperlink" Target="https://www.unep.org/resources/publication/food-waste-index-report-2024" TargetMode="External"/><Relationship Id="rId2" Type="http://schemas.openxmlformats.org/officeDocument/2006/relationships/hyperlink" Target="https://github.com/TechieNat/asistente-super-semanal-ia.gi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6028/NIST.AI.100-1" TargetMode="External"/><Relationship Id="rId11" Type="http://schemas.openxmlformats.org/officeDocument/2006/relationships/hyperlink" Target="https://github.com/" TargetMode="External"/><Relationship Id="rId5" Type="http://schemas.openxmlformats.org/officeDocument/2006/relationships/hyperlink" Target="https://scikit-learn.org/stable/modules/generated/sklearn.tree.DecisionTreeRegressor.html" TargetMode="External"/><Relationship Id="rId10" Type="http://schemas.openxmlformats.org/officeDocument/2006/relationships/hyperlink" Target="https://www.python.org/" TargetMode="External"/><Relationship Id="rId4" Type="http://schemas.openxmlformats.org/officeDocument/2006/relationships/hyperlink" Target="https://developers.google.com/optimization/cp/cp_solver" TargetMode="External"/><Relationship Id="rId9" Type="http://schemas.openxmlformats.org/officeDocument/2006/relationships/hyperlink" Target="https://github.com/pandas-dev/panda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generated_image_AA0D7E344A51_01.png"/>
          <p:cNvPicPr>
            <a:picLocks noChangeAspect="1"/>
          </p:cNvPicPr>
          <p:nvPr/>
        </p:nvPicPr>
        <p:blipFill>
          <a:blip r:embed="rId3"/>
          <a:srcRect l="19911" r="19911"/>
          <a:stretch/>
        </p:blipFill>
        <p:spPr>
          <a:xfrm>
            <a:off x="5961888" y="0"/>
            <a:ext cx="619048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0A2F3E"/>
          </a:solidFill>
          <a:ln w="12700">
            <a:solidFill>
              <a:srgbClr val="0A2F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9788" y="728254"/>
            <a:ext cx="51663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FFFFFF"/>
                </a:solidFill>
              </a:rPr>
              <a:t>Asistente</a:t>
            </a:r>
            <a:r>
              <a:rPr lang="en-US" sz="3800" b="1" dirty="0">
                <a:solidFill>
                  <a:srgbClr val="FFFFFF"/>
                </a:solidFill>
              </a:rPr>
              <a:t> </a:t>
            </a:r>
            <a:r>
              <a:rPr lang="en-US" sz="3800" b="1" dirty="0" err="1">
                <a:solidFill>
                  <a:srgbClr val="FFFFFF"/>
                </a:solidFill>
              </a:rPr>
              <a:t>inteligente</a:t>
            </a:r>
            <a:r>
              <a:rPr lang="en-US" sz="3800" b="1" dirty="0">
                <a:solidFill>
                  <a:srgbClr val="FFFFFF"/>
                </a:solidFill>
              </a:rPr>
              <a:t> para la </a:t>
            </a:r>
            <a:r>
              <a:rPr lang="en-US" sz="3800" b="1" dirty="0" err="1">
                <a:solidFill>
                  <a:srgbClr val="FFFFFF"/>
                </a:solidFill>
              </a:rPr>
              <a:t>planeación</a:t>
            </a:r>
            <a:r>
              <a:rPr lang="en-US" sz="3800" b="1" dirty="0">
                <a:solidFill>
                  <a:srgbClr val="FFFFFF"/>
                </a:solidFill>
              </a:rPr>
              <a:t> de </a:t>
            </a:r>
            <a:r>
              <a:rPr lang="en-US" sz="3800" b="1" dirty="0" err="1">
                <a:solidFill>
                  <a:srgbClr val="FFFFFF"/>
                </a:solidFill>
              </a:rPr>
              <a:t>súper</a:t>
            </a:r>
            <a:r>
              <a:rPr lang="en-US" sz="3800" b="1" dirty="0">
                <a:solidFill>
                  <a:srgbClr val="FFFFFF"/>
                </a:solidFill>
              </a:rPr>
              <a:t> </a:t>
            </a:r>
            <a:r>
              <a:rPr lang="en-US" sz="3800" b="1" dirty="0" err="1">
                <a:solidFill>
                  <a:srgbClr val="FFFFFF"/>
                </a:solidFill>
              </a:rPr>
              <a:t>semanal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58368" y="2633472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4EDE4"/>
                </a:solidFill>
              </a:rPr>
              <a:t>Predicción de consumo + optimización de menús y compras con restricciones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2007108" y="3685032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007108" y="3776472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PROYECTO FINAL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8368" y="48006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Imelda Natalia Jiménez Altamirano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58368" y="52120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C9BE"/>
                </a:solidFill>
              </a:rPr>
              <a:t>Inteligencia Artificial Aplicada · 2026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8368" y="5961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0B6B50"/>
                </a:solidFill>
              </a:rPr>
              <a:t>01 · CLARIDAD DEL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</a:rPr>
              <a:t>Un problema cotidiano con impacto medible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6B50"/>
                </a:solidFill>
              </a:rPr>
              <a:t>¿</a:t>
            </a:r>
            <a:r>
              <a:rPr lang="en-US" sz="2200" b="1" dirty="0" err="1">
                <a:solidFill>
                  <a:srgbClr val="0B6B50"/>
                </a:solidFill>
              </a:rPr>
              <a:t>Cómo</a:t>
            </a:r>
            <a:r>
              <a:rPr lang="en-US" sz="2200" b="1" dirty="0">
                <a:solidFill>
                  <a:srgbClr val="0B6B50"/>
                </a:solidFill>
              </a:rPr>
              <a:t> </a:t>
            </a:r>
            <a:r>
              <a:rPr lang="en-US" sz="2200" b="1" dirty="0" err="1">
                <a:solidFill>
                  <a:srgbClr val="0B6B50"/>
                </a:solidFill>
              </a:rPr>
              <a:t>planear</a:t>
            </a:r>
            <a:r>
              <a:rPr lang="en-US" sz="2200" b="1" dirty="0">
                <a:solidFill>
                  <a:srgbClr val="0B6B50"/>
                </a:solidFill>
              </a:rPr>
              <a:t> </a:t>
            </a:r>
            <a:r>
              <a:rPr lang="en-US" sz="2200" b="1" dirty="0" err="1">
                <a:solidFill>
                  <a:srgbClr val="0B6B50"/>
                </a:solidFill>
              </a:rPr>
              <a:t>menús</a:t>
            </a:r>
            <a:r>
              <a:rPr lang="en-US" sz="2200" b="1" dirty="0">
                <a:solidFill>
                  <a:srgbClr val="0B6B50"/>
                </a:solidFill>
              </a:rPr>
              <a:t> y </a:t>
            </a:r>
            <a:r>
              <a:rPr lang="en-US" sz="2200" b="1" dirty="0" err="1">
                <a:solidFill>
                  <a:srgbClr val="0B6B50"/>
                </a:solidFill>
              </a:rPr>
              <a:t>cantidades</a:t>
            </a:r>
            <a:r>
              <a:rPr lang="en-US" sz="2200" b="1" dirty="0">
                <a:solidFill>
                  <a:srgbClr val="0B6B50"/>
                </a:solidFill>
              </a:rPr>
              <a:t> de </a:t>
            </a:r>
            <a:r>
              <a:rPr lang="en-US" sz="2200" b="1" dirty="0" err="1">
                <a:solidFill>
                  <a:srgbClr val="0B6B50"/>
                </a:solidFill>
              </a:rPr>
              <a:t>compra</a:t>
            </a:r>
            <a:r>
              <a:rPr lang="en-US" sz="2200" b="1" dirty="0">
                <a:solidFill>
                  <a:srgbClr val="0B6B50"/>
                </a:solidFill>
              </a:rPr>
              <a:t> </a:t>
            </a:r>
            <a:r>
              <a:rPr lang="en-US" sz="2200" b="1" dirty="0" err="1">
                <a:solidFill>
                  <a:srgbClr val="0B6B50"/>
                </a:solidFill>
              </a:rPr>
              <a:t>que</a:t>
            </a:r>
            <a:r>
              <a:rPr lang="en-US" sz="2200" b="1" dirty="0">
                <a:solidFill>
                  <a:srgbClr val="0B6B50"/>
                </a:solidFill>
              </a:rPr>
              <a:t> </a:t>
            </a:r>
            <a:r>
              <a:rPr lang="en-US" sz="2200" b="1" dirty="0" err="1">
                <a:solidFill>
                  <a:srgbClr val="0B6B50"/>
                </a:solidFill>
              </a:rPr>
              <a:t>reduzcan</a:t>
            </a:r>
            <a:r>
              <a:rPr lang="en-US" sz="2200" b="1" dirty="0">
                <a:solidFill>
                  <a:srgbClr val="0B6B50"/>
                </a:solidFill>
              </a:rPr>
              <a:t> </a:t>
            </a:r>
            <a:r>
              <a:rPr lang="en-US" sz="2200" b="1" dirty="0" err="1">
                <a:solidFill>
                  <a:srgbClr val="0B6B50"/>
                </a:solidFill>
              </a:rPr>
              <a:t>costo</a:t>
            </a:r>
            <a:r>
              <a:rPr lang="en-US" sz="2200" b="1" dirty="0">
                <a:solidFill>
                  <a:srgbClr val="0B6B50"/>
                </a:solidFill>
              </a:rPr>
              <a:t> y </a:t>
            </a:r>
            <a:r>
              <a:rPr lang="en-US" sz="2200" b="1" dirty="0" err="1">
                <a:solidFill>
                  <a:srgbClr val="0B6B50"/>
                </a:solidFill>
              </a:rPr>
              <a:t>desperdicio</a:t>
            </a:r>
            <a:r>
              <a:rPr lang="en-US" sz="2200" b="1" dirty="0">
                <a:solidFill>
                  <a:srgbClr val="0B6B50"/>
                </a:solidFill>
              </a:rPr>
              <a:t> sin </a:t>
            </a:r>
            <a:r>
              <a:rPr lang="en-US" sz="2200" b="1" dirty="0" err="1">
                <a:solidFill>
                  <a:srgbClr val="0B6B50"/>
                </a:solidFill>
              </a:rPr>
              <a:t>violar</a:t>
            </a:r>
            <a:r>
              <a:rPr lang="en-US" sz="2200" b="1" dirty="0">
                <a:solidFill>
                  <a:srgbClr val="0B6B50"/>
                </a:solidFill>
              </a:rPr>
              <a:t> las </a:t>
            </a:r>
            <a:r>
              <a:rPr lang="en-US" sz="2200" b="1" dirty="0" err="1">
                <a:solidFill>
                  <a:srgbClr val="0B6B50"/>
                </a:solidFill>
              </a:rPr>
              <a:t>restricciones</a:t>
            </a:r>
            <a:r>
              <a:rPr lang="en-US" sz="2200" b="1" dirty="0">
                <a:solidFill>
                  <a:srgbClr val="0B6B50"/>
                </a:solidFill>
              </a:rPr>
              <a:t> de </a:t>
            </a:r>
            <a:r>
              <a:rPr lang="en-US" sz="2200" b="1" dirty="0" err="1">
                <a:solidFill>
                  <a:srgbClr val="0B6B50"/>
                </a:solidFill>
              </a:rPr>
              <a:t>cada</a:t>
            </a:r>
            <a:r>
              <a:rPr lang="en-US" sz="2200" b="1" dirty="0">
                <a:solidFill>
                  <a:srgbClr val="0B6B50"/>
                </a:solidFill>
              </a:rPr>
              <a:t> </a:t>
            </a:r>
            <a:r>
              <a:rPr lang="en-US" sz="2200" b="1" dirty="0" err="1">
                <a:solidFill>
                  <a:srgbClr val="0B6B50"/>
                </a:solidFill>
              </a:rPr>
              <a:t>hogar</a:t>
            </a:r>
            <a:r>
              <a:rPr lang="en-US" sz="2200" b="1" dirty="0">
                <a:solidFill>
                  <a:srgbClr val="0B6B50"/>
                </a:solidFill>
              </a:rPr>
              <a:t>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2587752" cy="1965960"/>
          </a:xfrm>
          <a:prstGeom prst="roundRect">
            <a:avLst>
              <a:gd name="adj" fmla="val 2326"/>
            </a:avLst>
          </a:prstGeom>
          <a:solidFill>
            <a:srgbClr val="DDECF8"/>
          </a:solidFill>
          <a:ln w="12700">
            <a:solidFill>
              <a:srgbClr val="D3E1DB"/>
            </a:solidFill>
            <a:prstDash val="solid"/>
          </a:ln>
          <a:effectLst>
            <a:outerShdw blurRad="1270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64008" cy="1965960"/>
          </a:xfrm>
          <a:prstGeom prst="rect">
            <a:avLst/>
          </a:prstGeom>
          <a:solidFill>
            <a:srgbClr val="2D74B8"/>
          </a:solidFill>
          <a:ln w="12700">
            <a:solidFill>
              <a:srgbClr val="2D7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5528" y="2496312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47"/>
                </a:solidFill>
              </a:rPr>
              <a:t>Compras sin planeación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953512"/>
            <a:ext cx="2203704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Cantidades que no corresponden al consumo.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3456432" y="2331720"/>
            <a:ext cx="2587752" cy="1965960"/>
          </a:xfrm>
          <a:prstGeom prst="roundRect">
            <a:avLst>
              <a:gd name="adj" fmla="val 2326"/>
            </a:avLst>
          </a:prstGeom>
          <a:solidFill>
            <a:srgbClr val="DFF3EA"/>
          </a:solidFill>
          <a:ln w="12700">
            <a:solidFill>
              <a:srgbClr val="D3E1DB"/>
            </a:solidFill>
            <a:prstDash val="solid"/>
          </a:ln>
          <a:effectLst>
            <a:outerShdw blurRad="1270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56432" y="2331720"/>
            <a:ext cx="64008" cy="196596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0" y="2496312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47"/>
                </a:solidFill>
              </a:rPr>
              <a:t>Desperdicio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953512"/>
            <a:ext cx="2203704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Perecederos y sobrantes pierden utilidad.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6318504" y="2331720"/>
            <a:ext cx="2587752" cy="1965960"/>
          </a:xfrm>
          <a:prstGeom prst="roundRect">
            <a:avLst>
              <a:gd name="adj" fmla="val 2326"/>
            </a:avLst>
          </a:prstGeom>
          <a:solidFill>
            <a:srgbClr val="FBE8D2"/>
          </a:solidFill>
          <a:ln w="12700">
            <a:solidFill>
              <a:srgbClr val="D3E1DB"/>
            </a:solidFill>
            <a:prstDash val="solid"/>
          </a:ln>
          <a:effectLst>
            <a:outerShdw blurRad="1270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18504" y="2331720"/>
            <a:ext cx="64008" cy="1965960"/>
          </a:xfrm>
          <a:prstGeom prst="rect">
            <a:avLst/>
          </a:prstGeom>
          <a:solidFill>
            <a:srgbClr val="EA8A2A"/>
          </a:solidFill>
          <a:ln w="12700">
            <a:solidFill>
              <a:srgbClr val="EA8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19672" y="2496312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47"/>
                </a:solidFill>
              </a:rPr>
              <a:t>Presupuesto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19672" y="2953512"/>
            <a:ext cx="2203704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La compra debe mantenerse dentro del monto semanal.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9180576" y="2331720"/>
            <a:ext cx="2587752" cy="1965960"/>
          </a:xfrm>
          <a:prstGeom prst="roundRect">
            <a:avLst>
              <a:gd name="adj" fmla="val 2326"/>
            </a:avLst>
          </a:prstGeom>
          <a:solidFill>
            <a:srgbClr val="EAE3F5"/>
          </a:solidFill>
          <a:ln w="12700">
            <a:solidFill>
              <a:srgbClr val="D3E1DB"/>
            </a:solidFill>
            <a:prstDash val="solid"/>
          </a:ln>
          <a:effectLst>
            <a:outerShdw blurRad="1270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80576" y="2331720"/>
            <a:ext cx="64008" cy="1965960"/>
          </a:xfrm>
          <a:prstGeom prst="rect">
            <a:avLst/>
          </a:prstGeom>
          <a:solidFill>
            <a:srgbClr val="7356A8"/>
          </a:solidFill>
          <a:ln w="12700">
            <a:solidFill>
              <a:srgbClr val="735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381744" y="2496312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47"/>
                </a:solidFill>
              </a:rPr>
              <a:t>Necesidades distintas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81744" y="2953512"/>
            <a:ext cx="2203704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Preferencias, alergias e inventario cambian la solución.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1234440" y="4800600"/>
            <a:ext cx="9692640" cy="1024128"/>
          </a:xfrm>
          <a:prstGeom prst="roundRect">
            <a:avLst>
              <a:gd name="adj" fmla="val 4464"/>
            </a:avLst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72768" y="5093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D7BB"/>
                </a:solidFill>
              </a:rPr>
              <a:t>SALIDA ESPERADA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5001768"/>
            <a:ext cx="6995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Menú semanal + lista de compra explicables, factibles y adaptados al hogar.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89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0B6B50"/>
                </a:solidFill>
              </a:rPr>
              <a:t>02 · VARIABLES, OBJETIVO Y RESTRICCIONES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</a:rPr>
              <a:t>Formulación matemática de la decisión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429000" cy="39776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25400">
            <a:solidFill>
              <a:srgbClr val="2D7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92808" y="1325880"/>
            <a:ext cx="749808" cy="749808"/>
          </a:xfrm>
          <a:prstGeom prst="ellipse">
            <a:avLst/>
          </a:prstGeom>
          <a:solidFill>
            <a:srgbClr val="2D74B8"/>
          </a:solidFill>
          <a:ln w="12700">
            <a:solidFill>
              <a:srgbClr val="2D7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92808" y="14813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5528" y="22677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047"/>
                </a:solidFill>
              </a:rPr>
              <a:t>Variables de decisión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862072"/>
            <a:ext cx="272491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128"/>
                </a:solidFill>
              </a:rPr>
              <a:t>xᵣ,𝒹 = receta r en día 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28"/>
                </a:solidFill>
              </a:rPr>
              <a:t>yₚ = paquetes del producto p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28"/>
                </a:solidFill>
              </a:rPr>
              <a:t>zᵢ = sobrante del ingrediente 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70832" y="1600200"/>
            <a:ext cx="3429000" cy="39776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25400">
            <a:solidFill>
              <a:srgbClr val="0B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96712" y="1325880"/>
            <a:ext cx="749808" cy="749808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96712" y="14813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9432" y="22677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047"/>
                </a:solidFill>
              </a:rPr>
              <a:t>Función objetivo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18304" y="2862072"/>
            <a:ext cx="272491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128"/>
                </a:solidFill>
              </a:rPr>
              <a:t>Minimizar: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28"/>
                </a:solidFill>
              </a:rPr>
              <a:t>• costo de compra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28"/>
                </a:solidFill>
              </a:rPr>
              <a:t>• sobrantes estimados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28"/>
                </a:solidFill>
              </a:rPr>
              <a:t>• baja aceptación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28"/>
                </a:solidFill>
              </a:rPr>
              <a:t>• falta de variedad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74736" y="1600200"/>
            <a:ext cx="3429000" cy="39776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25400">
            <a:solidFill>
              <a:srgbClr val="EA8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00616" y="1325880"/>
            <a:ext cx="749808" cy="749808"/>
          </a:xfrm>
          <a:prstGeom prst="ellipse">
            <a:avLst/>
          </a:prstGeom>
          <a:solidFill>
            <a:srgbClr val="EA8A2A"/>
          </a:solidFill>
          <a:ln w="12700">
            <a:solidFill>
              <a:srgbClr val="EA8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00616" y="14813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03336" y="22677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047"/>
                </a:solidFill>
              </a:rPr>
              <a:t>Restricciones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22208" y="2862072"/>
            <a:ext cx="2724912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128"/>
                </a:solidFill>
              </a:rPr>
              <a:t>• presupuesto y porciones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28"/>
                </a:solidFill>
              </a:rPr>
              <a:t>• inventario y existencia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28"/>
                </a:solidFill>
              </a:rPr>
              <a:t>• alergias y preferencias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73128"/>
                </a:solidFill>
              </a:rPr>
              <a:t>• paquetes completos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5888736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C44949"/>
                </a:solidFill>
              </a:rPr>
              <a:t>Las alergias son restricciones duras: nunca se relajan para obtener una solución.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89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0B6B50"/>
                </a:solidFill>
              </a:rPr>
              <a:t>03 · MÉTODO DEL PROYECTO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</a:rPr>
              <a:t>Ruta de desarrollo en seis etapas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38912" y="1572768"/>
            <a:ext cx="1691640" cy="40690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2D7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9264" y="1847088"/>
            <a:ext cx="640080" cy="640080"/>
          </a:xfrm>
          <a:prstGeom prst="ellipse">
            <a:avLst/>
          </a:prstGeom>
          <a:solidFill>
            <a:srgbClr val="2D74B8"/>
          </a:solidFill>
          <a:ln w="12700">
            <a:solidFill>
              <a:srgbClr val="2D7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9264" y="1984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6072" y="27706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47"/>
                </a:solidFill>
              </a:rPr>
              <a:t>Definir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3504" y="3364992"/>
            <a:ext cx="1362456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128"/>
                </a:solidFill>
              </a:rPr>
              <a:t>Problema, alcance y métricas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377440" y="1572768"/>
            <a:ext cx="1691640" cy="40690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0B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7792" y="1847088"/>
            <a:ext cx="640080" cy="640080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07792" y="1984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14600" y="27706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47"/>
                </a:solidFill>
              </a:rPr>
              <a:t>Preparar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42032" y="3364992"/>
            <a:ext cx="1362456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128"/>
                </a:solidFill>
              </a:rPr>
              <a:t>Integrar y validar datos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15968" y="1572768"/>
            <a:ext cx="1691640" cy="40690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735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847088"/>
            <a:ext cx="640080" cy="640080"/>
          </a:xfrm>
          <a:prstGeom prst="ellipse">
            <a:avLst/>
          </a:prstGeom>
          <a:solidFill>
            <a:srgbClr val="7356A8"/>
          </a:solidFill>
          <a:ln w="12700">
            <a:solidFill>
              <a:srgbClr val="735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984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53128" y="27706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47"/>
                </a:solidFill>
              </a:rPr>
              <a:t>Predecir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3364992"/>
            <a:ext cx="1362456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128"/>
                </a:solidFill>
              </a:rPr>
              <a:t>Estimar consumo semanal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1572768"/>
            <a:ext cx="1691640" cy="40690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EA8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84848" y="1847088"/>
            <a:ext cx="640080" cy="640080"/>
          </a:xfrm>
          <a:prstGeom prst="ellipse">
            <a:avLst/>
          </a:prstGeom>
          <a:solidFill>
            <a:srgbClr val="EA8A2A"/>
          </a:solidFill>
          <a:ln w="12700">
            <a:solidFill>
              <a:srgbClr val="EA8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84848" y="1984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91656" y="27706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47"/>
                </a:solidFill>
              </a:rPr>
              <a:t>Optimizar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19088" y="3364992"/>
            <a:ext cx="1362456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128"/>
                </a:solidFill>
              </a:rPr>
              <a:t>Resolver menú y compras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93024" y="1572768"/>
            <a:ext cx="1691640" cy="40690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2D7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723376" y="1847088"/>
            <a:ext cx="640080" cy="640080"/>
          </a:xfrm>
          <a:prstGeom prst="ellipse">
            <a:avLst/>
          </a:prstGeom>
          <a:solidFill>
            <a:srgbClr val="2D74B8"/>
          </a:solidFill>
          <a:ln w="12700">
            <a:solidFill>
              <a:srgbClr val="2D7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723376" y="1984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30184" y="27706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47"/>
                </a:solidFill>
              </a:rPr>
              <a:t>Evaluar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57616" y="3364992"/>
            <a:ext cx="1362456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128"/>
                </a:solidFill>
              </a:rPr>
              <a:t>Medir desempeño y factibilidad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0131552" y="1572768"/>
            <a:ext cx="1691640" cy="40690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0B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661904" y="1847088"/>
            <a:ext cx="640080" cy="640080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661904" y="19842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268712" y="27706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47"/>
                </a:solidFill>
              </a:rPr>
              <a:t>Comunicar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296144" y="3364992"/>
            <a:ext cx="1362456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128"/>
                </a:solidFill>
              </a:rPr>
              <a:t>Explicar riesgos y límites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828800" y="5943600"/>
            <a:ext cx="8549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6B50"/>
                </a:solidFill>
              </a:rPr>
              <a:t>El notebook conserva la evidencia de cada etapa y permite reproducir el flujo completo.</a:t>
            </a:r>
            <a:endParaRPr lang="en-US" sz="16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89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0B6B50"/>
                </a:solidFill>
              </a:rPr>
              <a:t>04 · BASE DEL PROTOTIPO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</a:rPr>
              <a:t>Datos sintéticos, limpios y relacionados</a:t>
            </a:r>
            <a:endParaRPr lang="en-US" sz="2700" dirty="0"/>
          </a:p>
        </p:txBody>
      </p:sp>
      <p:pic>
        <p:nvPicPr>
          <p:cNvPr id="4" name="Image 0" descr="/mnt/data/generated_image_AA0D7E344A51_02.png"/>
          <p:cNvPicPr>
            <a:picLocks noChangeAspect="1"/>
          </p:cNvPicPr>
          <p:nvPr/>
        </p:nvPicPr>
        <p:blipFill>
          <a:blip r:embed="rId3"/>
          <a:srcRect l="15498" r="15498"/>
          <a:stretch/>
        </p:blipFill>
        <p:spPr>
          <a:xfrm>
            <a:off x="7086600" y="1417320"/>
            <a:ext cx="4590288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17320"/>
            <a:ext cx="6080760" cy="57607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49808" y="153619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50"/>
                </a:solidFill>
              </a:rPr>
              <a:t>hogares.csv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044952" y="15361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047"/>
                </a:solidFill>
              </a:rPr>
              <a:t>10 hogares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114800" y="1527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B7169"/>
                </a:solidFill>
              </a:rPr>
              <a:t>presupuesto, preferencias y alergias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566928" y="2139696"/>
            <a:ext cx="6080760" cy="576072"/>
          </a:xfrm>
          <a:prstGeom prst="roundRect">
            <a:avLst>
              <a:gd name="adj" fmla="val 4762"/>
            </a:avLst>
          </a:prstGeom>
          <a:solidFill>
            <a:srgbClr val="EFF7F3"/>
          </a:solidFill>
          <a:ln w="12700">
            <a:solidFill>
              <a:srgbClr val="D8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9808" y="2258568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50"/>
                </a:solidFill>
              </a:rPr>
              <a:t>ingredientes.csv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44952" y="225856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047"/>
                </a:solidFill>
              </a:rPr>
              <a:t>24 ingredientes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114800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B7169"/>
                </a:solidFill>
              </a:rPr>
              <a:t>unidad, vida útil y alérgenos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566928" y="2862072"/>
            <a:ext cx="6080760" cy="57607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49808" y="298094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50"/>
                </a:solidFill>
              </a:rPr>
              <a:t>recetas.csv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044952" y="298094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047"/>
                </a:solidFill>
              </a:rPr>
              <a:t>15 recetas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11480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B7169"/>
                </a:solidFill>
              </a:rPr>
              <a:t>porciones, tipo y aceptación</a:t>
            </a:r>
            <a:endParaRPr lang="en-US" sz="1130" dirty="0"/>
          </a:p>
        </p:txBody>
      </p:sp>
      <p:sp>
        <p:nvSpPr>
          <p:cNvPr id="17" name="Shape 14"/>
          <p:cNvSpPr/>
          <p:nvPr/>
        </p:nvSpPr>
        <p:spPr>
          <a:xfrm>
            <a:off x="566928" y="3584448"/>
            <a:ext cx="6080760" cy="576072"/>
          </a:xfrm>
          <a:prstGeom prst="roundRect">
            <a:avLst>
              <a:gd name="adj" fmla="val 4762"/>
            </a:avLst>
          </a:prstGeom>
          <a:solidFill>
            <a:srgbClr val="EFF7F3"/>
          </a:solidFill>
          <a:ln w="12700">
            <a:solidFill>
              <a:srgbClr val="D8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49808" y="370332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50"/>
                </a:solidFill>
              </a:rPr>
              <a:t>receta_ingredientes.csv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044952" y="37033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047"/>
                </a:solidFill>
              </a:rPr>
              <a:t>77 relaciones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114800" y="36941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B7169"/>
                </a:solidFill>
              </a:rPr>
              <a:t>cantidades requeridas</a:t>
            </a:r>
            <a:endParaRPr lang="en-US" sz="1130" dirty="0"/>
          </a:p>
        </p:txBody>
      </p:sp>
      <p:sp>
        <p:nvSpPr>
          <p:cNvPr id="21" name="Shape 18"/>
          <p:cNvSpPr/>
          <p:nvPr/>
        </p:nvSpPr>
        <p:spPr>
          <a:xfrm>
            <a:off x="566928" y="4306824"/>
            <a:ext cx="6080760" cy="57607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8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49808" y="442569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50"/>
                </a:solidFill>
              </a:rPr>
              <a:t>catalogo_supermercado.csv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044952" y="442569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047"/>
                </a:solidFill>
              </a:rPr>
              <a:t>48 productos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114800" y="4416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B7169"/>
                </a:solidFill>
              </a:rPr>
              <a:t>precio, paquete y disponibilidad</a:t>
            </a:r>
            <a:endParaRPr lang="en-US" sz="1130" dirty="0"/>
          </a:p>
        </p:txBody>
      </p:sp>
      <p:sp>
        <p:nvSpPr>
          <p:cNvPr id="25" name="Shape 22"/>
          <p:cNvSpPr/>
          <p:nvPr/>
        </p:nvSpPr>
        <p:spPr>
          <a:xfrm>
            <a:off x="566928" y="5029200"/>
            <a:ext cx="6080760" cy="576072"/>
          </a:xfrm>
          <a:prstGeom prst="roundRect">
            <a:avLst>
              <a:gd name="adj" fmla="val 4762"/>
            </a:avLst>
          </a:prstGeom>
          <a:solidFill>
            <a:srgbClr val="EFF7F3"/>
          </a:solidFill>
          <a:ln w="12700">
            <a:solidFill>
              <a:srgbClr val="D8E5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49808" y="514807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B50"/>
                </a:solidFill>
              </a:rPr>
              <a:t>historial_consumo.csv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044952" y="514807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047"/>
                </a:solidFill>
              </a:rPr>
              <a:t>768 registros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114800" y="5138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B7169"/>
                </a:solidFill>
              </a:rPr>
              <a:t>compra, consumo e inventario</a:t>
            </a:r>
            <a:endParaRPr lang="en-US" sz="1130" dirty="0"/>
          </a:p>
        </p:txBody>
      </p:sp>
      <p:sp>
        <p:nvSpPr>
          <p:cNvPr id="29" name="Text 26"/>
          <p:cNvSpPr/>
          <p:nvPr/>
        </p:nvSpPr>
        <p:spPr>
          <a:xfrm>
            <a:off x="7269480" y="59618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44949"/>
                </a:solidFill>
              </a:rPr>
              <a:t>Datos ficticios para demostración académica; no representan hogares ni precios reales.</a:t>
            </a:r>
            <a:endParaRPr lang="en-US" sz="1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89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0B6B50"/>
                </a:solidFill>
              </a:rPr>
              <a:t>05 · APRENDIZAJE AUTOMÁTICO EJECUTADO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</a:rPr>
              <a:t>Predicción del consumo semanal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788920" cy="4434840"/>
          </a:xfrm>
          <a:prstGeom prst="roundRect">
            <a:avLst>
              <a:gd name="adj" fmla="val 1639"/>
            </a:avLst>
          </a:prstGeom>
          <a:solidFill>
            <a:srgbClr val="DDECF8"/>
          </a:solidFill>
          <a:ln w="12700">
            <a:solidFill>
              <a:srgbClr val="D3E1DB"/>
            </a:solidFill>
            <a:prstDash val="solid"/>
          </a:ln>
          <a:effectLst>
            <a:outerShdw blurRad="1270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64008" cy="4434840"/>
          </a:xfrm>
          <a:prstGeom prst="rect">
            <a:avLst/>
          </a:prstGeom>
          <a:solidFill>
            <a:srgbClr val="2D74B8"/>
          </a:solidFill>
          <a:ln w="12700">
            <a:solidFill>
              <a:srgbClr val="2D7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8096" y="15819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47"/>
                </a:solidFill>
              </a:rPr>
              <a:t>Entradas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8096" y="2039112"/>
            <a:ext cx="2404872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• integrantes, adultos y niños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• cantidad comprada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• inventario final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• aceptación previa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• ingrediente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3611880" y="1417320"/>
            <a:ext cx="2788920" cy="4434840"/>
          </a:xfrm>
          <a:prstGeom prst="roundRect">
            <a:avLst>
              <a:gd name="adj" fmla="val 1639"/>
            </a:avLst>
          </a:prstGeom>
          <a:solidFill>
            <a:srgbClr val="EAE3F5"/>
          </a:solidFill>
          <a:ln w="12700">
            <a:solidFill>
              <a:srgbClr val="D3E1DB"/>
            </a:solidFill>
            <a:prstDash val="solid"/>
          </a:ln>
          <a:effectLst>
            <a:outerShdw blurRad="1270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11880" y="1417320"/>
            <a:ext cx="64008" cy="4434840"/>
          </a:xfrm>
          <a:prstGeom prst="rect">
            <a:avLst/>
          </a:prstGeom>
          <a:solidFill>
            <a:srgbClr val="7356A8"/>
          </a:solidFill>
          <a:ln w="12700">
            <a:solidFill>
              <a:srgbClr val="735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13048" y="15819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47"/>
                </a:solidFill>
              </a:rPr>
              <a:t>Modelo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13048" y="2039112"/>
            <a:ext cx="2404872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Árbol de decisión</a:t>
            </a:r>
            <a:endParaRPr lang="en-US" sz="1270" dirty="0"/>
          </a:p>
          <a:p>
            <a:pPr marL="0" indent="0">
              <a:buNone/>
            </a:pP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Aprende relaciones no lineales del historial sintético y estima la cantidad consumida.</a:t>
            </a:r>
            <a:endParaRPr lang="en-US" sz="1270" dirty="0"/>
          </a:p>
          <a:p>
            <a:pPr marL="0" indent="0">
              <a:buNone/>
            </a:pP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Conjunto de prueba: 20 %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6720840" y="1417320"/>
            <a:ext cx="1481328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2D74B8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12280" y="158191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D74B8"/>
                </a:solidFill>
              </a:rPr>
              <a:t>28.64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830568" y="204825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7169"/>
                </a:solidFill>
              </a:rPr>
              <a:t>Error absoluto medio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94192" y="1417320"/>
            <a:ext cx="1481328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A8A2A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85632" y="158191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A8A2A"/>
                </a:solidFill>
              </a:rPr>
              <a:t>45.97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503920" y="204825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7169"/>
                </a:solidFill>
              </a:rPr>
              <a:t>Raíz del error cuadrático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067544" y="1417320"/>
            <a:ext cx="1481328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0B6B5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158984" y="158191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6B50"/>
                </a:solidFill>
              </a:rPr>
              <a:t>R² 0.96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10177272" y="204825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7169"/>
                </a:solidFill>
              </a:rPr>
              <a:t>Variabilidad explicada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20840" y="2651760"/>
            <a:ext cx="4828032" cy="2011680"/>
          </a:xfrm>
          <a:prstGeom prst="roundRect">
            <a:avLst>
              <a:gd name="adj" fmla="val 2273"/>
            </a:avLst>
          </a:prstGeom>
          <a:solidFill>
            <a:srgbClr val="DFF3EA"/>
          </a:solidFill>
          <a:ln w="12700">
            <a:solidFill>
              <a:srgbClr val="B9D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59168" y="294436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047"/>
                </a:solidFill>
              </a:rPr>
              <a:t>Prueba de predicción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50608" y="3410712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128"/>
                </a:solidFill>
              </a:rPr>
              <a:t>Hogar de 4 integrantes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3128"/>
                </a:solidFill>
              </a:rPr>
              <a:t>Compra histórica: 500 unidades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3128"/>
                </a:solidFill>
              </a:rPr>
              <a:t>Inventario: 50 unidades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73128"/>
                </a:solidFill>
              </a:rPr>
              <a:t>Aceptación: 4 de 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64624" y="34015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6B50"/>
                </a:solidFill>
              </a:rPr>
              <a:t>359.54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9509760" y="39227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7169"/>
                </a:solidFill>
              </a:rPr>
              <a:t>unidades estimadas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03720" y="5074920"/>
            <a:ext cx="446227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44949"/>
                </a:solidFill>
              </a:rPr>
              <a:t>R² no equivale a “96 % de aciertos”; expresa la proporción de variabilidad explicada en los datos sintéticos de prueba.</a:t>
            </a:r>
            <a:endParaRPr lang="en-US" sz="12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89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0B6B50"/>
                </a:solidFill>
              </a:rPr>
              <a:t>06 · COMPONENTE DE IA SIMBÓLICA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</a:rPr>
              <a:t>Optimización con CP-SAT</a:t>
            </a:r>
            <a:endParaRPr lang="en-US" sz="2700" dirty="0"/>
          </a:p>
        </p:txBody>
      </p:sp>
      <p:pic>
        <p:nvPicPr>
          <p:cNvPr id="4" name="Image 0" descr="/mnt/data/generated_image_AA0D7E344A51_03.png"/>
          <p:cNvPicPr>
            <a:picLocks noChangeAspect="1"/>
          </p:cNvPicPr>
          <p:nvPr/>
        </p:nvPicPr>
        <p:blipFill>
          <a:blip r:embed="rId3"/>
          <a:srcRect l="16471" r="16471"/>
          <a:stretch/>
        </p:blipFill>
        <p:spPr>
          <a:xfrm>
            <a:off x="530352" y="1417320"/>
            <a:ext cx="4709160" cy="46817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1417320"/>
            <a:ext cx="2743200" cy="1874520"/>
          </a:xfrm>
          <a:prstGeom prst="roundRect">
            <a:avLst>
              <a:gd name="adj" fmla="val 2439"/>
            </a:avLst>
          </a:prstGeom>
          <a:solidFill>
            <a:srgbClr val="DFF3EA"/>
          </a:solidFill>
          <a:ln w="12700">
            <a:solidFill>
              <a:srgbClr val="D3E1DB"/>
            </a:solidFill>
            <a:prstDash val="solid"/>
          </a:ln>
          <a:effectLst>
            <a:outerShdw blurRad="1270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577840" y="1417320"/>
            <a:ext cx="64008" cy="187452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79008" y="15819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47"/>
                </a:solidFill>
              </a:rPr>
              <a:t>Qué decide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79008" y="2039112"/>
            <a:ext cx="2359152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Recetas seleccionadas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Paquetes por producto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Cantidades de compra</a:t>
            </a:r>
            <a:endParaRPr lang="en-US" sz="1270" dirty="0"/>
          </a:p>
        </p:txBody>
      </p:sp>
      <p:sp>
        <p:nvSpPr>
          <p:cNvPr id="9" name="Shape 6"/>
          <p:cNvSpPr/>
          <p:nvPr/>
        </p:nvSpPr>
        <p:spPr>
          <a:xfrm>
            <a:off x="8641080" y="1417320"/>
            <a:ext cx="2743200" cy="1874520"/>
          </a:xfrm>
          <a:prstGeom prst="roundRect">
            <a:avLst>
              <a:gd name="adj" fmla="val 2439"/>
            </a:avLst>
          </a:prstGeom>
          <a:solidFill>
            <a:srgbClr val="FBE8D2"/>
          </a:solidFill>
          <a:ln w="12700">
            <a:solidFill>
              <a:srgbClr val="D3E1DB"/>
            </a:solidFill>
            <a:prstDash val="solid"/>
          </a:ln>
          <a:effectLst>
            <a:outerShdw blurRad="1270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41080" y="1417320"/>
            <a:ext cx="64008" cy="1874520"/>
          </a:xfrm>
          <a:prstGeom prst="rect">
            <a:avLst/>
          </a:prstGeom>
          <a:solidFill>
            <a:srgbClr val="EA8A2A"/>
          </a:solidFill>
          <a:ln w="12700">
            <a:solidFill>
              <a:srgbClr val="EA8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842248" y="15819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47"/>
                </a:solidFill>
              </a:rPr>
              <a:t>Qué minimiza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842248" y="2039112"/>
            <a:ext cx="2359152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Costo de compra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Sobrantes estimados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Baja aceptación</a:t>
            </a:r>
            <a:endParaRPr lang="en-US" sz="1270" dirty="0"/>
          </a:p>
        </p:txBody>
      </p:sp>
      <p:sp>
        <p:nvSpPr>
          <p:cNvPr id="13" name="Shape 10"/>
          <p:cNvSpPr/>
          <p:nvPr/>
        </p:nvSpPr>
        <p:spPr>
          <a:xfrm>
            <a:off x="5577840" y="3566160"/>
            <a:ext cx="2743200" cy="1874520"/>
          </a:xfrm>
          <a:prstGeom prst="roundRect">
            <a:avLst>
              <a:gd name="adj" fmla="val 2439"/>
            </a:avLst>
          </a:prstGeom>
          <a:solidFill>
            <a:srgbClr val="DDECF8"/>
          </a:solidFill>
          <a:ln w="12700">
            <a:solidFill>
              <a:srgbClr val="D3E1DB"/>
            </a:solidFill>
            <a:prstDash val="solid"/>
          </a:ln>
          <a:effectLst>
            <a:outerShdw blurRad="1270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577840" y="3566160"/>
            <a:ext cx="64008" cy="1874520"/>
          </a:xfrm>
          <a:prstGeom prst="rect">
            <a:avLst/>
          </a:prstGeom>
          <a:solidFill>
            <a:srgbClr val="2D74B8"/>
          </a:solidFill>
          <a:ln w="12700">
            <a:solidFill>
              <a:srgbClr val="2D7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79008" y="37307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47"/>
                </a:solidFill>
              </a:rPr>
              <a:t>Qué respeta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779008" y="4187952"/>
            <a:ext cx="2359152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Presupuesto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Alergias y preferencias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Inventario y existencia</a:t>
            </a:r>
            <a:endParaRPr lang="en-US" sz="1270" dirty="0"/>
          </a:p>
        </p:txBody>
      </p:sp>
      <p:sp>
        <p:nvSpPr>
          <p:cNvPr id="17" name="Shape 14"/>
          <p:cNvSpPr/>
          <p:nvPr/>
        </p:nvSpPr>
        <p:spPr>
          <a:xfrm>
            <a:off x="8641080" y="3566160"/>
            <a:ext cx="2743200" cy="1874520"/>
          </a:xfrm>
          <a:prstGeom prst="roundRect">
            <a:avLst>
              <a:gd name="adj" fmla="val 2439"/>
            </a:avLst>
          </a:prstGeom>
          <a:solidFill>
            <a:srgbClr val="EAE3F5"/>
          </a:solidFill>
          <a:ln w="12700">
            <a:solidFill>
              <a:srgbClr val="D3E1DB"/>
            </a:solidFill>
            <a:prstDash val="solid"/>
          </a:ln>
          <a:effectLst>
            <a:outerShdw blurRad="1270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641080" y="3566160"/>
            <a:ext cx="64008" cy="1874520"/>
          </a:xfrm>
          <a:prstGeom prst="rect">
            <a:avLst/>
          </a:prstGeom>
          <a:solidFill>
            <a:srgbClr val="7356A8"/>
          </a:solidFill>
          <a:ln w="12700">
            <a:solidFill>
              <a:srgbClr val="735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842248" y="37307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47"/>
                </a:solidFill>
              </a:rPr>
              <a:t>Qué entrega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842248" y="4187952"/>
            <a:ext cx="2359152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Menú semanal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Lista de compra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Costo y explicación</a:t>
            </a:r>
            <a:endParaRPr lang="en-US" sz="1270" dirty="0"/>
          </a:p>
        </p:txBody>
      </p:sp>
      <p:sp>
        <p:nvSpPr>
          <p:cNvPr id="21" name="Text 18"/>
          <p:cNvSpPr/>
          <p:nvPr/>
        </p:nvSpPr>
        <p:spPr>
          <a:xfrm>
            <a:off x="5760720" y="5870448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B50"/>
                </a:solidFill>
              </a:rPr>
              <a:t>Método implementado: programación por restricciones con variables enteras.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89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0B6B50"/>
                </a:solidFill>
              </a:rPr>
              <a:t>07 · NO DEVOLVER RECOMENDACIONES INSEGURAS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</a:rPr>
              <a:t>Manejo explícito de infactibilidad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653796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527048"/>
            <a:ext cx="530352" cy="5303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65506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72768" y="155448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47"/>
                </a:solidFill>
              </a:rPr>
              <a:t>Resolver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61488" y="1536192"/>
            <a:ext cx="4078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128"/>
                </a:solidFill>
              </a:rPr>
              <a:t>Buscar una solución que cumpla todas las restricciones.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653796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1248" y="2578608"/>
            <a:ext cx="530352" cy="5303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27066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72768" y="260604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47"/>
                </a:solidFill>
              </a:rPr>
              <a:t>Clasificar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61488" y="2587752"/>
            <a:ext cx="4078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128"/>
                </a:solidFill>
              </a:rPr>
              <a:t>OPTIMAL, FEASIBLE, INFEASIBLE o MODEL_INVALID.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6537960" cy="768096"/>
          </a:xfrm>
          <a:prstGeom prst="roundRect">
            <a:avLst>
              <a:gd name="adj" fmla="val 4762"/>
            </a:avLst>
          </a:prstGeom>
          <a:solidFill>
            <a:srgbClr val="F6E2E2"/>
          </a:solidFill>
          <a:ln w="12700">
            <a:solidFill>
              <a:srgbClr val="C4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1248" y="3630168"/>
            <a:ext cx="530352" cy="530352"/>
          </a:xfrm>
          <a:prstGeom prst="ellipse">
            <a:avLst/>
          </a:prstGeom>
          <a:solidFill>
            <a:srgbClr val="C44949"/>
          </a:solidFill>
          <a:ln w="12700">
            <a:solidFill>
              <a:srgbClr val="C4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" y="375818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72768" y="365760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47"/>
                </a:solidFill>
              </a:rPr>
              <a:t>Explicar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61488" y="3639312"/>
            <a:ext cx="4078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128"/>
                </a:solidFill>
              </a:rPr>
              <a:t>Identificar presupuesto, disponibilidad o compatibilidad.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6537960" cy="768096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9E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1248" y="4681728"/>
            <a:ext cx="530352" cy="530352"/>
          </a:xfrm>
          <a:prstGeom prst="ellipse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1248" y="480974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72768" y="470916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47"/>
                </a:solidFill>
              </a:rPr>
              <a:t>Proponer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61488" y="4690872"/>
            <a:ext cx="4078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128"/>
                </a:solidFill>
              </a:rPr>
              <a:t>Sugerir ajustes seguros sin relajar alergias.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589520" y="1417320"/>
            <a:ext cx="3977640" cy="4059936"/>
          </a:xfrm>
          <a:prstGeom prst="roundRect">
            <a:avLst>
              <a:gd name="adj" fmla="val 1379"/>
            </a:avLst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973568" y="1783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ED7BB"/>
                </a:solidFill>
              </a:rPr>
              <a:t>PRUEBA EJECUTADA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94192" y="2395728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Presupuesto insuficiente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+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7 preparaciones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+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</a:rPr>
              <a:t>restricciones activas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57616" y="425196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9C9C"/>
                </a:solidFill>
              </a:rPr>
              <a:t>INFEASIBLE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34440" y="5806440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4949"/>
                </a:solidFill>
              </a:rPr>
              <a:t>El sistema no genera una recomendación parcial y conserva las alergias como restricciones obligatorias.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89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0B6B50"/>
                </a:solidFill>
              </a:rPr>
              <a:t>08 · EVIDENCIA ANTES DE CONCLUSIONES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</a:rPr>
              <a:t>Resultados del prototipo ejecutado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9050">
            <a:solidFill>
              <a:srgbClr val="2D7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32688" y="17556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74B8"/>
                </a:solidFill>
              </a:rPr>
              <a:t>MODELO PREDICTIVO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2267712"/>
            <a:ext cx="13716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2D74B8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4323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D74B8"/>
                </a:solidFill>
              </a:rPr>
              <a:t>28.64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69848" y="2898648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7169"/>
                </a:solidFill>
              </a:rPr>
              <a:t>MAE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78608" y="2267712"/>
            <a:ext cx="13716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A8A2A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70048" y="24323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A8A2A"/>
                </a:solidFill>
              </a:rPr>
              <a:t>45.97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2688336" y="2898648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7169"/>
                </a:solidFill>
              </a:rPr>
              <a:t>RMSE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97096" y="2267712"/>
            <a:ext cx="13716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0B6B5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88536" y="24323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B6B50"/>
                </a:solidFill>
              </a:rPr>
              <a:t>0.96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306824" y="2898648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7169"/>
                </a:solidFill>
              </a:rPr>
              <a:t>R²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60120" y="3685032"/>
            <a:ext cx="4608576" cy="1417320"/>
          </a:xfrm>
          <a:prstGeom prst="roundRect">
            <a:avLst>
              <a:gd name="adj" fmla="val 2581"/>
            </a:avLst>
          </a:prstGeom>
          <a:solidFill>
            <a:srgbClr val="DDECF8"/>
          </a:solidFill>
          <a:ln w="12700">
            <a:solidFill>
              <a:srgbClr val="BCD7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52728" y="39684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47"/>
                </a:solidFill>
              </a:rPr>
              <a:t>Prueba de consumo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0" y="39227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74B8"/>
                </a:solidFill>
              </a:rPr>
              <a:t>359.54 unidades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25296" y="4498848"/>
            <a:ext cx="4069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7169"/>
                </a:solidFill>
              </a:rPr>
              <a:t>Resultado sobre datos sintéticos de prueba.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352" y="141732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01968" y="17556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ED7BB"/>
                </a:solidFill>
              </a:rPr>
              <a:t>OPTIMIZACIÓN CP-SAT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20840" y="2331720"/>
            <a:ext cx="246888" cy="246888"/>
          </a:xfrm>
          <a:prstGeom prst="ellipse">
            <a:avLst/>
          </a:prstGeom>
          <a:solidFill>
            <a:srgbClr val="8ED7BB"/>
          </a:solidFill>
          <a:ln w="12700">
            <a:solidFill>
              <a:srgbClr val="8ED7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20840" y="2377440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3047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14032" y="2286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Caso factible ejecutado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20840" y="2834640"/>
            <a:ext cx="246888" cy="246888"/>
          </a:xfrm>
          <a:prstGeom prst="ellipse">
            <a:avLst/>
          </a:prstGeom>
          <a:solidFill>
            <a:srgbClr val="8ED7BB"/>
          </a:solidFill>
          <a:ln w="12700">
            <a:solidFill>
              <a:srgbClr val="8ED7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20840" y="2880360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3047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14032" y="2788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Menú semanal generado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20840" y="3337560"/>
            <a:ext cx="246888" cy="246888"/>
          </a:xfrm>
          <a:prstGeom prst="ellipse">
            <a:avLst/>
          </a:prstGeom>
          <a:solidFill>
            <a:srgbClr val="8ED7BB"/>
          </a:solidFill>
          <a:ln w="12700">
            <a:solidFill>
              <a:srgbClr val="8ED7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20840" y="3383280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3047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14032" y="3291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Lista de compra y paquetes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720840" y="3840480"/>
            <a:ext cx="246888" cy="246888"/>
          </a:xfrm>
          <a:prstGeom prst="ellipse">
            <a:avLst/>
          </a:prstGeom>
          <a:solidFill>
            <a:srgbClr val="8ED7BB"/>
          </a:solidFill>
          <a:ln w="12700">
            <a:solidFill>
              <a:srgbClr val="8ED7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20840" y="3886200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3047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14032" y="37947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Costo y sobrantes calculados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20840" y="4343400"/>
            <a:ext cx="246888" cy="246888"/>
          </a:xfrm>
          <a:prstGeom prst="ellipse">
            <a:avLst/>
          </a:prstGeom>
          <a:solidFill>
            <a:srgbClr val="8ED7BB"/>
          </a:solidFill>
          <a:ln w="12700">
            <a:solidFill>
              <a:srgbClr val="8ED7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720840" y="4389120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3047"/>
                </a:solidFill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14032" y="4297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Resultados exportados a CSV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720840" y="4846320"/>
            <a:ext cx="246888" cy="246888"/>
          </a:xfrm>
          <a:prstGeom prst="ellipse">
            <a:avLst/>
          </a:prstGeom>
          <a:solidFill>
            <a:srgbClr val="C44949"/>
          </a:solidFill>
          <a:ln w="12700">
            <a:solidFill>
              <a:srgbClr val="C4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20840" y="4892040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14032" y="48006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Caso INFEASIBLE verificado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508760" y="5989320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C44949"/>
                </a:solidFill>
              </a:rPr>
              <a:t>No se reportan porcentajes de ahorro: faltaría una línea base comparable con datos reales.</a:t>
            </a:r>
            <a:endParaRPr lang="en-US" sz="117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89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0B6B50"/>
                </a:solidFill>
              </a:rPr>
              <a:t>09 · RECOMENDACIÓN EXPLICABLE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</a:rPr>
              <a:t>Salidas implementadas y demostradas</a:t>
            </a:r>
            <a:endParaRPr lang="en-US" sz="2700" dirty="0"/>
          </a:p>
        </p:txBody>
      </p:sp>
      <p:pic>
        <p:nvPicPr>
          <p:cNvPr id="4" name="Image 0" descr="/mnt/data/generated_image_AA0D7E344A51_05.png"/>
          <p:cNvPicPr>
            <a:picLocks noChangeAspect="1"/>
          </p:cNvPicPr>
          <p:nvPr/>
        </p:nvPicPr>
        <p:blipFill>
          <a:blip r:embed="rId3"/>
          <a:srcRect l="1020" r="1020"/>
          <a:stretch/>
        </p:blipFill>
        <p:spPr>
          <a:xfrm>
            <a:off x="548640" y="1417320"/>
            <a:ext cx="658368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79792" y="1417320"/>
            <a:ext cx="4069080" cy="658368"/>
          </a:xfrm>
          <a:prstGeom prst="roundRect">
            <a:avLst>
              <a:gd name="adj" fmla="val 5556"/>
            </a:avLst>
          </a:prstGeom>
          <a:solidFill>
            <a:srgbClr val="DFF3EA"/>
          </a:solidFill>
          <a:ln w="12700">
            <a:solidFill>
              <a:srgbClr val="D4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26680" y="1536192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47"/>
                </a:solidFill>
              </a:rPr>
              <a:t>Menú semanal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217152" y="15361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3128"/>
                </a:solidFill>
              </a:rPr>
              <a:t>recetas y frecuencia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479792" y="2295144"/>
            <a:ext cx="4069080" cy="658368"/>
          </a:xfrm>
          <a:prstGeom prst="roundRect">
            <a:avLst>
              <a:gd name="adj" fmla="val 5556"/>
            </a:avLst>
          </a:prstGeom>
          <a:solidFill>
            <a:srgbClr val="DDECF8"/>
          </a:solidFill>
          <a:ln w="12700">
            <a:solidFill>
              <a:srgbClr val="D4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26680" y="2414016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47"/>
                </a:solidFill>
              </a:rPr>
              <a:t>Lista de compra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217152" y="241401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3128"/>
                </a:solidFill>
              </a:rPr>
              <a:t>producto, paquetes y costo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79792" y="3172968"/>
            <a:ext cx="4069080" cy="658368"/>
          </a:xfrm>
          <a:prstGeom prst="roundRect">
            <a:avLst>
              <a:gd name="adj" fmla="val 5556"/>
            </a:avLst>
          </a:prstGeom>
          <a:solidFill>
            <a:srgbClr val="DFF3EA"/>
          </a:solidFill>
          <a:ln w="12700">
            <a:solidFill>
              <a:srgbClr val="D4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26680" y="329184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47"/>
                </a:solidFill>
              </a:rPr>
              <a:t>Uso de inventario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217152" y="32918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3128"/>
                </a:solidFill>
              </a:rPr>
              <a:t>cantidad aprovechada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479792" y="4050792"/>
            <a:ext cx="4069080" cy="658368"/>
          </a:xfrm>
          <a:prstGeom prst="roundRect">
            <a:avLst>
              <a:gd name="adj" fmla="val 5556"/>
            </a:avLst>
          </a:prstGeom>
          <a:solidFill>
            <a:srgbClr val="DDECF8"/>
          </a:solidFill>
          <a:ln w="12700">
            <a:solidFill>
              <a:srgbClr val="D4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26680" y="4169664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47"/>
                </a:solidFill>
              </a:rPr>
              <a:t>Diagnóstico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217152" y="416966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3128"/>
                </a:solidFill>
              </a:rPr>
              <a:t>estado y causas de infactibilidad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79792" y="4928616"/>
            <a:ext cx="4069080" cy="658368"/>
          </a:xfrm>
          <a:prstGeom prst="roundRect">
            <a:avLst>
              <a:gd name="adj" fmla="val 5556"/>
            </a:avLst>
          </a:prstGeom>
          <a:solidFill>
            <a:srgbClr val="DFF3EA"/>
          </a:solidFill>
          <a:ln w="12700">
            <a:solidFill>
              <a:srgbClr val="D4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726680" y="504748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47"/>
                </a:solidFill>
              </a:rPr>
              <a:t>Archivos de salida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217152" y="50474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3128"/>
                </a:solidFill>
              </a:rPr>
              <a:t>menú, compras y predicciones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920240" y="59893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6B50"/>
                </a:solidFill>
              </a:rPr>
              <a:t>La evidencia detallada se muestra en el notebook ejecutado y en la carpeta resultados/.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89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0B6B50"/>
                </a:solidFill>
              </a:rPr>
              <a:t>10 · IA RESPONSABLE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</a:rPr>
              <a:t>Riesgos éticos, seguridad y mitigaciones</a:t>
            </a:r>
            <a:endParaRPr lang="en-US" sz="2700" dirty="0"/>
          </a:p>
        </p:txBody>
      </p:sp>
      <p:pic>
        <p:nvPicPr>
          <p:cNvPr id="4" name="Image 0" descr="/mnt/data/generated_image_AA0D7E344A51_04.png"/>
          <p:cNvPicPr>
            <a:picLocks noChangeAspect="1"/>
          </p:cNvPicPr>
          <p:nvPr/>
        </p:nvPicPr>
        <p:blipFill>
          <a:blip r:embed="rId3"/>
          <a:srcRect l="19804" r="19804"/>
          <a:stretch/>
        </p:blipFill>
        <p:spPr>
          <a:xfrm>
            <a:off x="530352" y="1417320"/>
            <a:ext cx="4224528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74920" y="1417320"/>
            <a:ext cx="6446520" cy="868680"/>
          </a:xfrm>
          <a:prstGeom prst="roundRect">
            <a:avLst>
              <a:gd name="adj" fmla="val 4211"/>
            </a:avLst>
          </a:prstGeom>
          <a:solidFill>
            <a:srgbClr val="F6E2E2"/>
          </a:solidFill>
          <a:ln w="12700">
            <a:solidFill>
              <a:srgbClr val="C4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394960" y="1572768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47"/>
                </a:solidFill>
              </a:rPr>
              <a:t>Alergias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0" y="155448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128"/>
                </a:solidFill>
              </a:rPr>
              <a:t>Restricciones duras, validación doble y revisión humana.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74920" y="2496312"/>
            <a:ext cx="6446520" cy="868680"/>
          </a:xfrm>
          <a:prstGeom prst="roundRect">
            <a:avLst>
              <a:gd name="adj" fmla="val 4211"/>
            </a:avLst>
          </a:prstGeom>
          <a:solidFill>
            <a:srgbClr val="DDECF8"/>
          </a:solidFill>
          <a:ln w="12700">
            <a:solidFill>
              <a:srgbClr val="2D7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94960" y="2651760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47"/>
                </a:solidFill>
              </a:rPr>
              <a:t>Privacidad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0" y="2633472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128"/>
                </a:solidFill>
              </a:rPr>
              <a:t>Datos mínimos, seudónimos y eliminación controlada.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74920" y="3575304"/>
            <a:ext cx="6446520" cy="868680"/>
          </a:xfrm>
          <a:prstGeom prst="roundRect">
            <a:avLst>
              <a:gd name="adj" fmla="val 4211"/>
            </a:avLst>
          </a:prstGeom>
          <a:solidFill>
            <a:srgbClr val="EAE3F5"/>
          </a:solidFill>
          <a:ln w="12700">
            <a:solidFill>
              <a:srgbClr val="735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94960" y="373075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47"/>
                </a:solidFill>
              </a:rPr>
              <a:t>Sesgo comercial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58000" y="3712464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128"/>
                </a:solidFill>
              </a:rPr>
              <a:t>Función objetivo visible y alternativas comparables.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74920" y="4654296"/>
            <a:ext cx="6446520" cy="868680"/>
          </a:xfrm>
          <a:prstGeom prst="roundRect">
            <a:avLst>
              <a:gd name="adj" fmla="val 4211"/>
            </a:avLst>
          </a:prstGeom>
          <a:solidFill>
            <a:srgbClr val="FBE8D2"/>
          </a:solidFill>
          <a:ln w="12700">
            <a:solidFill>
              <a:srgbClr val="EA8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94960" y="4809744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47"/>
                </a:solidFill>
              </a:rPr>
              <a:t>Datos desactualizados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58000" y="4791456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128"/>
                </a:solidFill>
              </a:rPr>
              <a:t>Fecha, validación y alerta antes de comprar.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285232" y="5870448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44949"/>
                </a:solidFill>
              </a:rPr>
              <a:t>El sistema apoya decisiones; no sustituye validación médica, nutricional ni humana.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89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0B6B50"/>
                </a:solidFill>
              </a:rPr>
              <a:t>11 · DEL DISEÑO AL CÓDIGO EJECUTABLE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50392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3047"/>
                </a:solidFill>
              </a:rPr>
              <a:t>Implementación técnica del prototipo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2011680" cy="1143000"/>
          </a:xfrm>
          <a:prstGeom prst="roundRect">
            <a:avLst>
              <a:gd name="adj" fmla="val 4000"/>
            </a:avLst>
          </a:prstGeom>
          <a:solidFill>
            <a:srgbClr val="DDECF8"/>
          </a:solidFill>
          <a:ln w="12700">
            <a:solidFill>
              <a:srgbClr val="D1E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4088" y="1673352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47"/>
                </a:solidFill>
              </a:rPr>
              <a:t>Python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4088" y="2075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169"/>
                </a:solidFill>
              </a:rPr>
              <a:t>Orquestación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34640" y="1444752"/>
            <a:ext cx="2011680" cy="1143000"/>
          </a:xfrm>
          <a:prstGeom prst="roundRect">
            <a:avLst>
              <a:gd name="adj" fmla="val 4000"/>
            </a:avLst>
          </a:prstGeom>
          <a:solidFill>
            <a:srgbClr val="DFF3EA"/>
          </a:solidFill>
          <a:ln w="12700">
            <a:solidFill>
              <a:srgbClr val="D1E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673352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47"/>
                </a:solidFill>
              </a:rPr>
              <a:t>pandas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71800" y="2075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169"/>
                </a:solidFill>
              </a:rPr>
              <a:t>Carga de CSV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02352" y="1444752"/>
            <a:ext cx="2011680" cy="1143000"/>
          </a:xfrm>
          <a:prstGeom prst="roundRect">
            <a:avLst>
              <a:gd name="adj" fmla="val 4000"/>
            </a:avLst>
          </a:prstGeom>
          <a:solidFill>
            <a:srgbClr val="EAE3F5"/>
          </a:solidFill>
          <a:ln w="12700">
            <a:solidFill>
              <a:srgbClr val="D1E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39512" y="1673352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47"/>
                </a:solidFill>
              </a:rPr>
              <a:t>scikit-learn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39512" y="2075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169"/>
                </a:solidFill>
              </a:rPr>
              <a:t>Árbol de decisión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70064" y="1444752"/>
            <a:ext cx="2011680" cy="1143000"/>
          </a:xfrm>
          <a:prstGeom prst="roundRect">
            <a:avLst>
              <a:gd name="adj" fmla="val 4000"/>
            </a:avLst>
          </a:prstGeom>
          <a:solidFill>
            <a:srgbClr val="FBE8D2"/>
          </a:solidFill>
          <a:ln w="12700">
            <a:solidFill>
              <a:srgbClr val="D1E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07224" y="1673352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47"/>
                </a:solidFill>
              </a:rPr>
              <a:t>OR-Tools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07224" y="2075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169"/>
                </a:solidFill>
              </a:rPr>
              <a:t>CP-SAT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37776" y="1444752"/>
            <a:ext cx="2011680" cy="1143000"/>
          </a:xfrm>
          <a:prstGeom prst="roundRect">
            <a:avLst>
              <a:gd name="adj" fmla="val 4000"/>
            </a:avLst>
          </a:prstGeom>
          <a:solidFill>
            <a:srgbClr val="E8EFEC"/>
          </a:solidFill>
          <a:ln w="12700">
            <a:solidFill>
              <a:srgbClr val="D1E0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774936" y="1673352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47"/>
                </a:solidFill>
              </a:rPr>
              <a:t>Jupyter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74936" y="20756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169"/>
                </a:solidFill>
              </a:rPr>
              <a:t>Evidencia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1248" y="2999232"/>
            <a:ext cx="10469880" cy="2267712"/>
          </a:xfrm>
          <a:prstGeom prst="roundRect">
            <a:avLst>
              <a:gd name="adj" fmla="val 2419"/>
            </a:avLst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34440" y="33558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10" dirty="0">
                <a:solidFill>
                  <a:srgbClr val="8ED7BB"/>
                </a:solidFill>
              </a:rPr>
              <a:t>PROTOTIPO IMPLEMENTADO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813048"/>
            <a:ext cx="96469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El notebook carga los seis CSV, realiza EDA, entrena y evalúa el árbol de decisión, ejecuta CP-SAT, genera menú y compras, exporta resultados y demuestra infactibilidad.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965960" y="579729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6B50"/>
                </a:solidFill>
              </a:rPr>
              <a:t>Código, notebook, datos, presentación y documentación organizados para repositorio GitHub.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4652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894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4406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dirty="0">
                <a:solidFill>
                  <a:srgbClr val="D9EEE6"/>
                </a:solidFill>
              </a:rPr>
              <a:t>La combinación de datos, predicción y optimización convierte una necesidad doméstica en un problema de IA medible, reproducible y explicable.</a:t>
            </a:r>
            <a:endParaRPr lang="en-US" sz="2050" dirty="0"/>
          </a:p>
        </p:txBody>
      </p:sp>
      <p:sp>
        <p:nvSpPr>
          <p:cNvPr id="5" name="Shape 3"/>
          <p:cNvSpPr/>
          <p:nvPr/>
        </p:nvSpPr>
        <p:spPr>
          <a:xfrm>
            <a:off x="768096" y="2788920"/>
            <a:ext cx="256032" cy="256032"/>
          </a:xfrm>
          <a:prstGeom prst="ellipse">
            <a:avLst/>
          </a:prstGeom>
          <a:solidFill>
            <a:srgbClr val="8ED7BB"/>
          </a:solidFill>
          <a:ln w="12700">
            <a:solidFill>
              <a:srgbClr val="8ED7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8096" y="2834640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3047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70432" y="276148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Problema formulado con variables, objetivo y restricciones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" y="3337560"/>
            <a:ext cx="256032" cy="256032"/>
          </a:xfrm>
          <a:prstGeom prst="ellipse">
            <a:avLst/>
          </a:prstGeom>
          <a:solidFill>
            <a:srgbClr val="8ED7BB"/>
          </a:solidFill>
          <a:ln w="12700">
            <a:solidFill>
              <a:srgbClr val="8ED7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8096" y="3383280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3047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70432" y="331012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Árbol de decisión: MAE 28.64 · RMSE 45.97 · R² 0.96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8096" y="3886200"/>
            <a:ext cx="256032" cy="256032"/>
          </a:xfrm>
          <a:prstGeom prst="ellipse">
            <a:avLst/>
          </a:prstGeom>
          <a:solidFill>
            <a:srgbClr val="8ED7BB"/>
          </a:solidFill>
          <a:ln w="12700">
            <a:solidFill>
              <a:srgbClr val="8ED7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8096" y="3931920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3047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70432" y="38587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Predicción de prueba: 359.54 unidades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" y="4434840"/>
            <a:ext cx="256032" cy="256032"/>
          </a:xfrm>
          <a:prstGeom prst="ellipse">
            <a:avLst/>
          </a:prstGeom>
          <a:solidFill>
            <a:srgbClr val="8ED7BB"/>
          </a:solidFill>
          <a:ln w="12700">
            <a:solidFill>
              <a:srgbClr val="8ED7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096" y="4480560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3047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70432" y="44074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CP-SAT: menú, compras, costo y sobrantes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" y="4983480"/>
            <a:ext cx="256032" cy="256032"/>
          </a:xfrm>
          <a:prstGeom prst="ellipse">
            <a:avLst/>
          </a:prstGeom>
          <a:solidFill>
            <a:srgbClr val="8ED7BB"/>
          </a:solidFill>
          <a:ln w="12700">
            <a:solidFill>
              <a:srgbClr val="8ED7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8096" y="5029200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3047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70432" y="495604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Infactibilidad explícita sin relajar alergias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88352" y="9875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Límites y siguiente paso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315200" y="1645920"/>
            <a:ext cx="4434840" cy="1298448"/>
          </a:xfrm>
          <a:prstGeom prst="roundRect">
            <a:avLst>
              <a:gd name="adj" fmla="val 3521"/>
            </a:avLst>
          </a:prstGeom>
          <a:solidFill>
            <a:srgbClr val="DFF3EA"/>
          </a:solidFill>
          <a:ln w="12700">
            <a:solidFill>
              <a:srgbClr val="D3E1DB"/>
            </a:solidFill>
            <a:prstDash val="solid"/>
          </a:ln>
          <a:effectLst>
            <a:outerShdw blurRad="1270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0" y="1645920"/>
            <a:ext cx="64008" cy="1298448"/>
          </a:xfrm>
          <a:prstGeom prst="rect">
            <a:avLst/>
          </a:prstGeom>
          <a:solidFill>
            <a:srgbClr val="0B6B50"/>
          </a:solidFill>
          <a:ln w="12700">
            <a:solidFill>
              <a:srgbClr val="0B6B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16368" y="181051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47"/>
                </a:solidFill>
              </a:rPr>
              <a:t>Límites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16368" y="2267712"/>
            <a:ext cx="40507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Datos y precios sintéticos; sin integración en tiempo real.</a:t>
            </a:r>
            <a:endParaRPr lang="en-US" sz="1270" dirty="0"/>
          </a:p>
        </p:txBody>
      </p:sp>
      <p:sp>
        <p:nvSpPr>
          <p:cNvPr id="25" name="Shape 23"/>
          <p:cNvSpPr/>
          <p:nvPr/>
        </p:nvSpPr>
        <p:spPr>
          <a:xfrm>
            <a:off x="7315200" y="3246120"/>
            <a:ext cx="4434840" cy="1298448"/>
          </a:xfrm>
          <a:prstGeom prst="roundRect">
            <a:avLst>
              <a:gd name="adj" fmla="val 3521"/>
            </a:avLst>
          </a:prstGeom>
          <a:solidFill>
            <a:srgbClr val="DDECF8"/>
          </a:solidFill>
          <a:ln w="12700">
            <a:solidFill>
              <a:srgbClr val="D3E1DB"/>
            </a:solidFill>
            <a:prstDash val="solid"/>
          </a:ln>
          <a:effectLst>
            <a:outerShdw blurRad="12700" dist="127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0" y="3246120"/>
            <a:ext cx="64008" cy="1298448"/>
          </a:xfrm>
          <a:prstGeom prst="rect">
            <a:avLst/>
          </a:prstGeom>
          <a:solidFill>
            <a:srgbClr val="2D74B8"/>
          </a:solidFill>
          <a:ln w="12700">
            <a:solidFill>
              <a:srgbClr val="2D7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516368" y="341071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47"/>
                </a:solidFill>
              </a:rPr>
              <a:t>Evolución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16368" y="3867912"/>
            <a:ext cx="405079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270" dirty="0">
                <a:solidFill>
                  <a:srgbClr val="173128"/>
                </a:solidFill>
              </a:rPr>
              <a:t>Validación con datos reales anonimizados e integración autorizada.</a:t>
            </a:r>
            <a:endParaRPr lang="en-US" sz="1270" dirty="0"/>
          </a:p>
        </p:txBody>
      </p:sp>
      <p:sp>
        <p:nvSpPr>
          <p:cNvPr id="29" name="Shape 27"/>
          <p:cNvSpPr/>
          <p:nvPr/>
        </p:nvSpPr>
        <p:spPr>
          <a:xfrm>
            <a:off x="7315200" y="4873752"/>
            <a:ext cx="4434840" cy="1051560"/>
          </a:xfrm>
          <a:prstGeom prst="roundRect">
            <a:avLst>
              <a:gd name="adj" fmla="val 3478"/>
            </a:avLst>
          </a:prstGeom>
          <a:solidFill>
            <a:srgbClr val="24495A"/>
          </a:solidFill>
          <a:ln w="12700">
            <a:solidFill>
              <a:srgbClr val="537B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607808" y="50566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ED7BB"/>
                </a:solidFill>
              </a:rPr>
              <a:t>Uso de IA generativa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35240" y="5404104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D9EEE6"/>
                </a:solidFill>
              </a:rPr>
              <a:t>Apoyo en estructura, redacción, visuales y datos sintéticos. La autora conserva la responsabilidad metodológica y crítica.</a:t>
            </a:r>
            <a:endParaRPr lang="en-US" sz="10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4C67E-D8C0-9B08-8ABE-16FEF9FE12DC}"/>
              </a:ext>
            </a:extLst>
          </p:cNvPr>
          <p:cNvSpPr txBox="1"/>
          <p:nvPr/>
        </p:nvSpPr>
        <p:spPr>
          <a:xfrm>
            <a:off x="530352" y="1683347"/>
            <a:ext cx="9477103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/>
              <a:t>Hernández Sánchez, A. (2026a). </a:t>
            </a:r>
            <a:r>
              <a:rPr lang="es-MX" sz="1400" i="1" dirty="0"/>
              <a:t>Agentes inteligentes</a:t>
            </a:r>
            <a:r>
              <a:rPr lang="es-MX" sz="1400" dirty="0"/>
              <a:t> [Diapositivas de PowerPoint]. Universidad de las Américas Puebla.</a:t>
            </a:r>
            <a:endParaRPr lang="en-US" sz="1400" dirty="0"/>
          </a:p>
          <a:p>
            <a:r>
              <a:rPr lang="es-MX" sz="1400" dirty="0"/>
              <a:t>Hernández Sánchez, A. (2026b). </a:t>
            </a:r>
            <a:r>
              <a:rPr lang="es-MX" sz="1400" i="1" dirty="0"/>
              <a:t>Aprendizaje de máquina</a:t>
            </a:r>
            <a:r>
              <a:rPr lang="es-MX" sz="1400" dirty="0"/>
              <a:t> [Diapositivas de PowerPoint]. Universidad de las Américas Puebla.</a:t>
            </a:r>
            <a:endParaRPr lang="en-US" sz="1400" dirty="0"/>
          </a:p>
          <a:p>
            <a:r>
              <a:rPr lang="es-MX" sz="1400" dirty="0"/>
              <a:t>Hernández Sánchez, A. (2026c). </a:t>
            </a:r>
            <a:r>
              <a:rPr lang="es-MX" sz="1400" i="1" dirty="0"/>
              <a:t>Búsqueda</a:t>
            </a:r>
            <a:r>
              <a:rPr lang="es-MX" sz="1400" dirty="0"/>
              <a:t> [Diapositivas de PowerPoint]. Universidad de las Américas Puebla.</a:t>
            </a:r>
            <a:endParaRPr lang="en-US" sz="1400" dirty="0"/>
          </a:p>
          <a:p>
            <a:r>
              <a:rPr lang="es-MX" sz="1400" dirty="0"/>
              <a:t>Hernández Sánchez, A. (2026d). </a:t>
            </a:r>
            <a:r>
              <a:rPr lang="es-MX" sz="1400" i="1" dirty="0"/>
              <a:t>Optimización</a:t>
            </a:r>
            <a:r>
              <a:rPr lang="es-MX" sz="1400" dirty="0"/>
              <a:t> [Diapositivas de PowerPoint]. Universidad de las Américas Puebla.</a:t>
            </a:r>
            <a:endParaRPr lang="en-US" sz="1400" dirty="0"/>
          </a:p>
          <a:p>
            <a:r>
              <a:rPr lang="es-MX" sz="1400" dirty="0"/>
              <a:t>Hernández Sánchez, A. (2026e). </a:t>
            </a:r>
            <a:r>
              <a:rPr lang="es-MX" sz="1400" i="1" dirty="0"/>
              <a:t>Redes neuronales y modelos probabilísticos</a:t>
            </a:r>
            <a:r>
              <a:rPr lang="es-MX" sz="1400" dirty="0"/>
              <a:t> [Diapositivas de PowerPoint]. Universidad de las Américas Puebla.</a:t>
            </a:r>
            <a:endParaRPr lang="en-US" sz="1400" dirty="0"/>
          </a:p>
          <a:p>
            <a:r>
              <a:rPr lang="es-MX" sz="1400" dirty="0"/>
              <a:t>Hernández Sánchez, A. (2026f). </a:t>
            </a:r>
            <a:r>
              <a:rPr lang="es-MX" sz="1400" i="1" dirty="0"/>
              <a:t>Regresión</a:t>
            </a:r>
            <a:r>
              <a:rPr lang="es-MX" sz="1400" dirty="0"/>
              <a:t> [Diapositivas de PowerPoint]. Universidad de las Américas Puebla.</a:t>
            </a:r>
            <a:endParaRPr lang="en-US" sz="1400" dirty="0"/>
          </a:p>
          <a:p>
            <a:r>
              <a:rPr lang="es-MX" sz="1400" dirty="0"/>
              <a:t>Jiménez Altamirano, I. N. (2026). </a:t>
            </a:r>
            <a:r>
              <a:rPr lang="es-MX" sz="1400" i="1" dirty="0"/>
              <a:t>Proyecto final: Asistente inteligente para la planeación del súper semanal</a:t>
            </a:r>
            <a:r>
              <a:rPr lang="es-MX" sz="1400" dirty="0"/>
              <a:t> (Versión 1.0) [Código fuente]. </a:t>
            </a:r>
            <a:r>
              <a:rPr lang="en-US" sz="1400" dirty="0"/>
              <a:t>GitHub. </a:t>
            </a:r>
            <a:r>
              <a:rPr lang="en-US" sz="1400" u="sng" dirty="0">
                <a:hlinkClick r:id="rId2"/>
              </a:rPr>
              <a:t>https://github.com/TechieNat/asistente-super-semanal-ia.git</a:t>
            </a:r>
            <a:endParaRPr lang="en-US" sz="1400" dirty="0"/>
          </a:p>
          <a:p>
            <a:r>
              <a:rPr lang="en-US" sz="1400" dirty="0"/>
              <a:t>Microsoft. (2026). </a:t>
            </a:r>
            <a:r>
              <a:rPr lang="en-US" sz="1400" i="1" dirty="0"/>
              <a:t>Microsoft Copilot</a:t>
            </a:r>
            <a:r>
              <a:rPr lang="en-US" sz="1400" dirty="0"/>
              <a:t>. </a:t>
            </a:r>
            <a:r>
              <a:rPr lang="en-US" sz="1400" u="sng" dirty="0">
                <a:hlinkClick r:id="rId3"/>
              </a:rPr>
              <a:t>https://copilot.microsoft.com/</a:t>
            </a:r>
            <a:endParaRPr lang="en-US" sz="1400" dirty="0"/>
          </a:p>
          <a:p>
            <a:r>
              <a:rPr lang="en-US" sz="1400" dirty="0"/>
              <a:t>Google for Developers. (2024). </a:t>
            </a:r>
            <a:r>
              <a:rPr lang="en-US" sz="1400" i="1" dirty="0"/>
              <a:t>CP-SAT Solver</a:t>
            </a:r>
            <a:r>
              <a:rPr lang="en-US" sz="1400" dirty="0"/>
              <a:t>. OR-Tools. </a:t>
            </a:r>
            <a:r>
              <a:rPr lang="en-US" sz="1400" u="sng" dirty="0">
                <a:hlinkClick r:id="rId4"/>
              </a:rPr>
              <a:t>https://developers.google.com/optimization/cp/cp_solver</a:t>
            </a:r>
            <a:endParaRPr lang="en-US" sz="1400" dirty="0"/>
          </a:p>
          <a:p>
            <a:r>
              <a:rPr lang="en-US" sz="1400" dirty="0"/>
              <a:t>scikit-learn developers. (2026). </a:t>
            </a:r>
            <a:r>
              <a:rPr lang="en-US" sz="1400" i="1" dirty="0" err="1"/>
              <a:t>DecisionTreeRegressor</a:t>
            </a:r>
            <a:r>
              <a:rPr lang="en-US" sz="1400" dirty="0"/>
              <a:t>. scikit-learn documentation. </a:t>
            </a:r>
            <a:r>
              <a:rPr lang="en-US" sz="1400" u="sng" dirty="0">
                <a:hlinkClick r:id="rId5"/>
              </a:rPr>
              <a:t>https://scikit-learn.org/stable/modules/generated/sklearn.tree.DecisionTreeRegressor.html</a:t>
            </a:r>
            <a:endParaRPr lang="en-US" sz="1400" dirty="0"/>
          </a:p>
          <a:p>
            <a:r>
              <a:rPr lang="en-US" sz="1400" dirty="0"/>
              <a:t>Tabassi, E. (2023). </a:t>
            </a:r>
            <a:r>
              <a:rPr lang="en-US" sz="1400" i="1" dirty="0"/>
              <a:t>Artificial intelligence risk management framework (AI RMF 1.0)</a:t>
            </a:r>
            <a:r>
              <a:rPr lang="en-US" sz="1400" dirty="0"/>
              <a:t> (NIST AI 100-1). National Institute of Standards and Technology. </a:t>
            </a:r>
            <a:r>
              <a:rPr lang="en-US" sz="1400" u="sng" dirty="0">
                <a:hlinkClick r:id="rId6"/>
              </a:rPr>
              <a:t>https://doi.org/10.6028/NIST.AI.100-1</a:t>
            </a:r>
            <a:endParaRPr lang="en-US" sz="1400" dirty="0"/>
          </a:p>
          <a:p>
            <a:r>
              <a:rPr lang="en-US" sz="1400" dirty="0"/>
              <a:t>United Nations Environment </a:t>
            </a:r>
            <a:r>
              <a:rPr lang="en-US" sz="1400" dirty="0" err="1"/>
              <a:t>Programme</a:t>
            </a:r>
            <a:r>
              <a:rPr lang="en-US" sz="1400" dirty="0"/>
              <a:t>. (2024). </a:t>
            </a:r>
            <a:r>
              <a:rPr lang="en-US" sz="1400" i="1" dirty="0"/>
              <a:t>Food Waste Index Report 2024</a:t>
            </a:r>
            <a:r>
              <a:rPr lang="en-US" sz="1400" dirty="0"/>
              <a:t>. </a:t>
            </a:r>
            <a:r>
              <a:rPr lang="en-US" sz="1400" u="sng" dirty="0">
                <a:hlinkClick r:id="rId7"/>
              </a:rPr>
              <a:t>https://www.unep.org/resources/publication/food-waste-index-report-2024</a:t>
            </a:r>
            <a:endParaRPr lang="en-US" sz="1400" dirty="0"/>
          </a:p>
          <a:p>
            <a:r>
              <a:rPr lang="en-US" sz="1400" dirty="0"/>
              <a:t>Project Jupyter. (2025). </a:t>
            </a:r>
            <a:r>
              <a:rPr lang="en-US" sz="1400" i="1" dirty="0"/>
              <a:t>Jupyter Notebook</a:t>
            </a:r>
            <a:r>
              <a:rPr lang="en-US" sz="1400" dirty="0"/>
              <a:t> [Software]. </a:t>
            </a:r>
            <a:r>
              <a:rPr lang="en-US" sz="1400" u="sng" dirty="0">
                <a:hlinkClick r:id="rId8"/>
              </a:rPr>
              <a:t>https://jupyter.org/</a:t>
            </a:r>
            <a:endParaRPr lang="en-US" sz="1400" dirty="0"/>
          </a:p>
          <a:p>
            <a:r>
              <a:rPr lang="en-US" sz="1400" dirty="0"/>
              <a:t>pandas development team. (2025). </a:t>
            </a:r>
            <a:r>
              <a:rPr lang="en-US" sz="1400" i="1" dirty="0"/>
              <a:t>pandas-dev/pandas: Pandas</a:t>
            </a:r>
            <a:r>
              <a:rPr lang="en-US" sz="1400" dirty="0"/>
              <a:t> (Version 2.x) [Software]. GitHub. </a:t>
            </a:r>
            <a:r>
              <a:rPr lang="en-US" sz="1400" u="sng" dirty="0">
                <a:hlinkClick r:id="rId9"/>
              </a:rPr>
              <a:t>https://github.com/pandas-dev/pandas</a:t>
            </a:r>
            <a:endParaRPr lang="en-US" sz="1400" dirty="0"/>
          </a:p>
          <a:p>
            <a:r>
              <a:rPr lang="en-US" sz="1400" dirty="0"/>
              <a:t>Python Software Foundation. (2025). </a:t>
            </a:r>
            <a:r>
              <a:rPr lang="en-US" sz="1400" i="1" dirty="0"/>
              <a:t>Python (Version 3.13)</a:t>
            </a:r>
            <a:r>
              <a:rPr lang="en-US" sz="1400" dirty="0"/>
              <a:t> [Software]. </a:t>
            </a:r>
            <a:r>
              <a:rPr lang="en-US" sz="1400" u="sng" dirty="0">
                <a:hlinkClick r:id="rId10"/>
              </a:rPr>
              <a:t>https://www.python.org</a:t>
            </a:r>
            <a:r>
              <a:rPr lang="en-US" sz="1400" dirty="0"/>
              <a:t> </a:t>
            </a:r>
          </a:p>
          <a:p>
            <a:r>
              <a:rPr lang="en-US" sz="1400" dirty="0"/>
              <a:t>GitHub. (2026). </a:t>
            </a:r>
            <a:r>
              <a:rPr lang="en-US" sz="1400" i="1" dirty="0"/>
              <a:t>GitHub</a:t>
            </a:r>
            <a:r>
              <a:rPr lang="en-US" sz="1400" dirty="0"/>
              <a:t> [Software]. </a:t>
            </a:r>
            <a:r>
              <a:rPr lang="en-US" sz="1400" u="sng" dirty="0">
                <a:hlinkClick r:id="rId11"/>
              </a:rPr>
              <a:t>https://github.com/</a:t>
            </a:r>
            <a:endParaRPr lang="en-US" sz="1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5FE1DE3-CB68-2576-74E0-6517BAD41606}"/>
              </a:ext>
            </a:extLst>
          </p:cNvPr>
          <p:cNvSpPr/>
          <p:nvPr/>
        </p:nvSpPr>
        <p:spPr>
          <a:xfrm>
            <a:off x="530352" y="850392"/>
            <a:ext cx="11064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123047"/>
                </a:solidFill>
              </a:rPr>
              <a:t>Referencias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392277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1406</Words>
  <Application>Microsoft Office PowerPoint</Application>
  <PresentationFormat>Widescreen</PresentationFormat>
  <Paragraphs>275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UDLAP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Asistente Inteligente para la Planeación del Súper Semanal</dc:title>
  <dc:subject>Proyecto final de Inteligencia Artificial Aplicada</dc:subject>
  <dc:creator>Natalia Jimenez Altamirano</dc:creator>
  <cp:lastModifiedBy>Natalia Jimenez Altamirano</cp:lastModifiedBy>
  <cp:revision>7</cp:revision>
  <dcterms:created xsi:type="dcterms:W3CDTF">2026-09-29T08:25:15Z</dcterms:created>
  <dcterms:modified xsi:type="dcterms:W3CDTF">2026-09-30T06:01:13Z</dcterms:modified>
</cp:coreProperties>
</file>